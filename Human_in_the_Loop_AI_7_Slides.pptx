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509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548640"/>
            <a:ext cx="2011680" cy="2011680"/>
          </a:xfrm>
          <a:prstGeom prst="ellipse">
            <a:avLst/>
          </a:prstGeom>
          <a:solidFill>
            <a:srgbClr val="DCF6F1"/>
          </a:solidFill>
          <a:ln>
            <a:solidFill>
              <a:srgbClr val="DC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3200400"/>
            <a:ext cx="1188720" cy="1188720"/>
          </a:xfrm>
          <a:prstGeom prst="ellipse">
            <a:avLst/>
          </a:prstGeom>
          <a:solidFill>
            <a:srgbClr val="F2F7FC"/>
          </a:solidFill>
          <a:ln>
            <a:solidFill>
              <a:srgbClr val="F2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0" y="4297680"/>
            <a:ext cx="685800" cy="685800"/>
          </a:xfrm>
          <a:prstGeom prst="ellipse">
            <a:avLst/>
          </a:prstGeom>
          <a:solidFill>
            <a:srgbClr val="FFEFCD"/>
          </a:solidFill>
          <a:ln>
            <a:solidFill>
              <a:srgbClr val="FFE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6583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09191"/>
                </a:solidFill>
                <a:latin typeface="Aptos"/>
              </a:defRPr>
            </a:pPr>
            <a:r>
              <a:t>GENERATIVE AI  •  HUMAN OVERSIGHT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68580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3600" b="1">
                <a:solidFill>
                  <a:srgbClr val="1B365D"/>
                </a:solidFill>
                <a:latin typeface="Aptos"/>
              </a:defRPr>
            </a:pPr>
            <a:r>
              <a:rPr dirty="0"/>
              <a:t>Human-in-the-Loop</a:t>
            </a:r>
          </a:p>
          <a:p>
            <a:pPr algn="l">
              <a:spcAft>
                <a:spcPts val="500"/>
              </a:spcAft>
              <a:defRPr sz="3600" b="1">
                <a:solidFill>
                  <a:srgbClr val="1B365D"/>
                </a:solidFill>
                <a:latin typeface="Aptos"/>
              </a:defRPr>
            </a:pPr>
            <a:r>
              <a:rPr dirty="0"/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27248"/>
            <a:ext cx="6035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2100" b="0">
                <a:solidFill>
                  <a:srgbClr val="5B6B7B"/>
                </a:solidFill>
                <a:latin typeface="Aptos"/>
              </a:defRPr>
            </a:pPr>
            <a:r>
              <a:t>When should AI act alone — and when should a human step in?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709160"/>
            <a:ext cx="2770632" cy="676656"/>
          </a:xfrm>
          <a:prstGeom prst="round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4873752"/>
            <a:ext cx="2743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Presented by Sriya Maroju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51468" y="1767535"/>
            <a:ext cx="1185062" cy="962863"/>
          </a:xfrm>
          <a:prstGeom prst="roundRect">
            <a:avLst/>
          </a:prstGeom>
          <a:solidFill>
            <a:srgbClr val="4A7DC9"/>
          </a:solidFill>
          <a:ln>
            <a:solidFill>
              <a:srgbClr val="4A7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810701" y="2088489"/>
            <a:ext cx="160477" cy="160477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316821" y="2088489"/>
            <a:ext cx="160477" cy="160477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 flipV="1">
            <a:off x="9144000" y="1471269"/>
            <a:ext cx="0" cy="296266"/>
          </a:xfrm>
          <a:prstGeom prst="line">
            <a:avLst/>
          </a:prstGeom>
          <a:ln w="38100">
            <a:solidFill>
              <a:srgbClr val="4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069933" y="1360169"/>
            <a:ext cx="148132" cy="148132"/>
          </a:xfrm>
          <a:prstGeom prst="ellipse">
            <a:avLst/>
          </a:prstGeom>
          <a:solidFill>
            <a:srgbClr val="F2B705"/>
          </a:solidFill>
          <a:ln>
            <a:solidFill>
              <a:srgbClr val="F2B7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8872423" y="2841498"/>
            <a:ext cx="0" cy="209854"/>
          </a:xfrm>
          <a:prstGeom prst="line">
            <a:avLst/>
          </a:prstGeom>
          <a:ln w="38100">
            <a:solidFill>
              <a:srgbClr val="4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15576" y="2841498"/>
            <a:ext cx="0" cy="209854"/>
          </a:xfrm>
          <a:prstGeom prst="line">
            <a:avLst/>
          </a:prstGeom>
          <a:ln w="38100">
            <a:solidFill>
              <a:srgbClr val="4A7D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367467" y="3387852"/>
            <a:ext cx="296265" cy="296265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52252" y="3741724"/>
            <a:ext cx="526694" cy="658368"/>
          </a:xfrm>
          <a:prstGeom prst="round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H="1">
            <a:off x="10169956" y="4293108"/>
            <a:ext cx="181052" cy="329184"/>
          </a:xfrm>
          <a:prstGeom prst="line">
            <a:avLst/>
          </a:prstGeom>
          <a:ln w="63500">
            <a:solidFill>
              <a:srgbClr val="00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680192" y="4293108"/>
            <a:ext cx="181051" cy="329184"/>
          </a:xfrm>
          <a:prstGeom prst="line">
            <a:avLst/>
          </a:prstGeom>
          <a:ln w="63500">
            <a:solidFill>
              <a:srgbClr val="00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0" y="3337560"/>
            <a:ext cx="777240" cy="365760"/>
          </a:xfrm>
          <a:prstGeom prst="line">
            <a:avLst/>
          </a:prstGeom>
          <a:ln w="38100">
            <a:solidFill>
              <a:srgbClr val="00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738360" y="3493008"/>
            <a:ext cx="237744" cy="237744"/>
          </a:xfrm>
          <a:prstGeom prst="ellipse">
            <a:avLst/>
          </a:prstGeom>
          <a:solidFill>
            <a:srgbClr val="F2B705"/>
          </a:solidFill>
          <a:ln>
            <a:solidFill>
              <a:srgbClr val="F2B7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13648" y="288036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4A7DC9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470916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009191"/>
                </a:solidFill>
                <a:latin typeface="Aptos"/>
              </a:defRPr>
            </a:pPr>
            <a:r>
              <a:t>HUMAN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5B6B7B"/>
                </a:solidFill>
                <a:latin typeface="Aptos"/>
              </a:defRPr>
            </a:pPr>
            <a:r>
              <a:t>HUMAN-IN-THE-LOOP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49224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B6B7B"/>
                </a:solidFill>
                <a:latin typeface="Aptos"/>
              </a:defRPr>
            </a:pPr>
            <a:r>
              <a:t>01  /  06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4C2F551-887B-1F92-B27A-60E170EA8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712" y="4078224"/>
            <a:ext cx="3961948" cy="1554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009191"/>
                </a:solidFill>
                <a:latin typeface="Aptos"/>
              </a:defRPr>
            </a:pPr>
            <a:r>
              <a:t>01  •  THE BIG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B365D"/>
                </a:solidFill>
                <a:latin typeface="Aptos"/>
              </a:defRPr>
            </a:pPr>
            <a:r>
              <a:t>If AI can do it, should it do it alone?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98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5B6B7B"/>
                </a:solidFill>
                <a:latin typeface="Aptos"/>
              </a:defRPr>
            </a:pPr>
            <a:r>
              <a:t>AI can recommend, decide, and take actions — but mistakes still matter.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4846320" cy="3429000"/>
          </a:xfrm>
          <a:prstGeom prst="roundRect">
            <a:avLst/>
          </a:prstGeom>
          <a:solidFill>
            <a:srgbClr val="F2F7FC"/>
          </a:solidFill>
          <a:ln>
            <a:solidFill>
              <a:srgbClr val="F2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4023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1B365D"/>
                </a:solidFill>
                <a:latin typeface="Aptos"/>
              </a:defRPr>
            </a:pPr>
            <a:r>
              <a:t>Imagine this…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971800"/>
            <a:ext cx="1325880" cy="1508760"/>
          </a:xfrm>
          <a:prstGeom prst="roundRect">
            <a:avLst/>
          </a:prstGeom>
          <a:solidFill>
            <a:srgbClr val="DAE6F0"/>
          </a:solidFill>
          <a:ln>
            <a:solidFill>
              <a:srgbClr val="DA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490472" y="3246120"/>
            <a:ext cx="530352" cy="530352"/>
          </a:xfrm>
          <a:prstGeom prst="ellipse">
            <a:avLst/>
          </a:prstGeom>
          <a:solidFill>
            <a:srgbClr val="B0C0D0"/>
          </a:solidFill>
          <a:ln>
            <a:solidFill>
              <a:srgbClr val="B0C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72768" y="3364992"/>
            <a:ext cx="182880" cy="182880"/>
          </a:xfrm>
          <a:prstGeom prst="ellipse">
            <a:avLst/>
          </a:prstGeom>
          <a:solidFill>
            <a:srgbClr val="EA705D"/>
          </a:solidFill>
          <a:ln>
            <a:solidFill>
              <a:srgbClr val="EA7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97480" y="3063240"/>
            <a:ext cx="2468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283442"/>
                </a:solidFill>
                <a:latin typeface="Aptos"/>
              </a:defRPr>
            </a:pPr>
            <a:r>
              <a:t>AI flags a possible</a:t>
            </a:r>
          </a:p>
          <a:p>
            <a:pPr algn="l">
              <a:spcAft>
                <a:spcPts val="500"/>
              </a:spcAft>
              <a:defRPr sz="1700" b="1">
                <a:solidFill>
                  <a:srgbClr val="283442"/>
                </a:solidFill>
                <a:latin typeface="Aptos"/>
              </a:defRPr>
            </a:pPr>
            <a:r>
              <a:t>problem in an X-ray.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09160"/>
            <a:ext cx="4297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09191"/>
                </a:solidFill>
                <a:latin typeface="Aptos"/>
              </a:defRPr>
            </a:pPr>
            <a:r>
              <a:t>Would you let it make the final diagnosis?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057400"/>
            <a:ext cx="5303520" cy="1417320"/>
          </a:xfrm>
          <a:prstGeom prst="roundRect">
            <a:avLst/>
          </a:prstGeom>
          <a:solidFill>
            <a:srgbClr val="F2F7FC"/>
          </a:solidFill>
          <a:ln>
            <a:solidFill>
              <a:srgbClr val="F2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2057400"/>
            <a:ext cx="91440" cy="141732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336792" y="2295144"/>
            <a:ext cx="420624" cy="420624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2295144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2" y="2240280"/>
            <a:ext cx="427024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B365D"/>
                </a:solidFill>
                <a:latin typeface="Aptos"/>
              </a:defRPr>
            </a:pPr>
            <a:r>
              <a:t>AI alone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16352"/>
            <a:ext cx="47731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rPr dirty="0"/>
              <a:t>Fast — but it could make a high-stakes mistake.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749039"/>
            <a:ext cx="5303520" cy="1417320"/>
          </a:xfrm>
          <a:prstGeom prst="roundRect">
            <a:avLst/>
          </a:prstGeom>
          <a:solidFill>
            <a:srgbClr val="F2F7FC"/>
          </a:solidFill>
          <a:ln>
            <a:solidFill>
              <a:srgbClr val="F2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60" y="3749039"/>
            <a:ext cx="91440" cy="1417320"/>
          </a:xfrm>
          <a:prstGeom prst="rect">
            <a:avLst/>
          </a:prstGeom>
          <a:solidFill>
            <a:srgbClr val="4A7DC9"/>
          </a:solidFill>
          <a:ln>
            <a:solidFill>
              <a:srgbClr val="4A7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36792" y="3986783"/>
            <a:ext cx="420624" cy="420624"/>
          </a:xfrm>
          <a:prstGeom prst="ellipse">
            <a:avLst/>
          </a:prstGeom>
          <a:solidFill>
            <a:srgbClr val="4A7DC9"/>
          </a:solidFill>
          <a:ln>
            <a:solidFill>
              <a:srgbClr val="4A7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2" y="3986783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3931920"/>
            <a:ext cx="427024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B365D"/>
                </a:solidFill>
                <a:latin typeface="Aptos"/>
              </a:defRPr>
            </a:pPr>
            <a:r>
              <a:t>AI + human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507992"/>
            <a:ext cx="47731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AI assists; a qualified person checks the decision.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B365D"/>
                </a:solidFill>
                <a:latin typeface="Aptos"/>
              </a:defRPr>
            </a:pPr>
            <a:r>
              <a:t>Core idea: choose the right amount of human oversight for the risk.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5B6B7B"/>
                </a:solidFill>
                <a:latin typeface="Aptos"/>
              </a:defRPr>
            </a:pPr>
            <a:r>
              <a:t>HUMAN-IN-THE-LOOP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49224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B6B7B"/>
                </a:solidFill>
                <a:latin typeface="Aptos"/>
              </a:defRPr>
            </a:pPr>
            <a:r>
              <a:t>02  /  06</a:t>
            </a:r>
          </a:p>
        </p:txBody>
      </p:sp>
      <p:pic>
        <p:nvPicPr>
          <p:cNvPr id="27" name="Picture 26" descr="human_ai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34" y="2926080"/>
            <a:ext cx="1726530" cy="1600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009191"/>
                </a:solidFill>
                <a:latin typeface="Aptos"/>
              </a:defRPr>
            </a:pPr>
            <a:r>
              <a:t>02  •  THREE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B365D"/>
                </a:solidFill>
                <a:latin typeface="Aptos"/>
              </a:defRPr>
            </a:pPr>
            <a:r>
              <a:t>A spectrum of human involvement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98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5B6B7B"/>
                </a:solidFill>
                <a:latin typeface="Aptos"/>
              </a:defRPr>
            </a:pPr>
            <a:r>
              <a:t>The difference is how much control the human keeps.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17320" y="3063240"/>
            <a:ext cx="9326880" cy="0"/>
          </a:xfrm>
          <a:prstGeom prst="line">
            <a:avLst/>
          </a:prstGeom>
          <a:ln w="63500">
            <a:solidFill>
              <a:srgbClr val="BED0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618488" y="2852928"/>
            <a:ext cx="420624" cy="420624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009191"/>
                </a:solidFill>
                <a:latin typeface="Aptos"/>
              </a:defRPr>
            </a:pPr>
            <a:r>
              <a:t>HUMAN-IN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42900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B365D"/>
                </a:solidFill>
                <a:latin typeface="Aptos"/>
              </a:defRPr>
            </a:pPr>
            <a:r>
              <a:t>Approves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3977639"/>
            <a:ext cx="3200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AI pauses until a person approves.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Example: doctor confirms a diagnosis.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2852928"/>
            <a:ext cx="420624" cy="420624"/>
          </a:xfrm>
          <a:prstGeom prst="ellipse">
            <a:avLst/>
          </a:prstGeom>
          <a:solidFill>
            <a:srgbClr val="4A7DC9"/>
          </a:solidFill>
          <a:ln>
            <a:solidFill>
              <a:srgbClr val="4A7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874519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4A7DC9"/>
                </a:solidFill>
                <a:latin typeface="Aptos"/>
              </a:defRPr>
            </a:pPr>
            <a:r>
              <a:t>HUMAN-ON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42900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B365D"/>
                </a:solidFill>
                <a:latin typeface="Aptos"/>
              </a:defRPr>
            </a:pPr>
            <a:r>
              <a:t>Monitors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977639"/>
            <a:ext cx="3200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AI runs; a person watches and can intervene.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Example: supervised self-driving.</a:t>
            </a:r>
          </a:p>
        </p:txBody>
      </p:sp>
      <p:sp>
        <p:nvSpPr>
          <p:cNvPr id="14" name="Oval 13"/>
          <p:cNvSpPr/>
          <p:nvPr/>
        </p:nvSpPr>
        <p:spPr>
          <a:xfrm>
            <a:off x="9848088" y="2852928"/>
            <a:ext cx="420624" cy="420624"/>
          </a:xfrm>
          <a:prstGeom prst="ellipse">
            <a:avLst/>
          </a:prstGeom>
          <a:solidFill>
            <a:srgbClr val="EA705D"/>
          </a:solidFill>
          <a:ln>
            <a:solidFill>
              <a:srgbClr val="EA7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2520" y="1874519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EA705D"/>
                </a:solidFill>
                <a:latin typeface="Aptos"/>
              </a:defRPr>
            </a:pPr>
            <a:r>
              <a:t>HUMAN-OUT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42900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B365D"/>
                </a:solidFill>
                <a:latin typeface="Aptos"/>
              </a:defRPr>
            </a:pPr>
            <a:r>
              <a:t>AI acts alone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977639"/>
            <a:ext cx="3200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No human intervention during the action.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Example: high-speed trading algorithms.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6800" y="5806440"/>
            <a:ext cx="10058400" cy="502920"/>
          </a:xfrm>
          <a:prstGeom prst="roundRect">
            <a:avLst/>
          </a:prstGeom>
          <a:solidFill>
            <a:srgbClr val="DCF6F1"/>
          </a:solidFill>
          <a:ln>
            <a:solidFill>
              <a:srgbClr val="DC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5888736"/>
            <a:ext cx="9692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009191"/>
                </a:solidFill>
                <a:latin typeface="Aptos"/>
              </a:defRPr>
            </a:pPr>
            <a:r>
              <a:rPr dirty="0"/>
              <a:t>Remember: APPROVES  →  MONITORS  →  ACTS ALONE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5B6B7B"/>
                </a:solidFill>
                <a:latin typeface="Aptos"/>
              </a:defRPr>
            </a:pPr>
            <a:r>
              <a:t>HUMAN-IN-THE-LOOP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B6B7B"/>
                </a:solidFill>
                <a:latin typeface="Aptos"/>
              </a:defRPr>
            </a:pPr>
            <a:r>
              <a:t>03  /  06</a:t>
            </a:r>
          </a:p>
        </p:txBody>
      </p:sp>
      <p:pic>
        <p:nvPicPr>
          <p:cNvPr id="22" name="Picture 21" descr="doctor_xray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830190"/>
            <a:ext cx="1825159" cy="976248"/>
          </a:xfrm>
          <a:prstGeom prst="rect">
            <a:avLst/>
          </a:prstGeom>
        </p:spPr>
      </p:pic>
      <p:pic>
        <p:nvPicPr>
          <p:cNvPr id="23" name="Picture 22" descr="self_driving_ph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015" y="4835366"/>
            <a:ext cx="1750483" cy="936305"/>
          </a:xfrm>
          <a:prstGeom prst="rect">
            <a:avLst/>
          </a:prstGeom>
        </p:spPr>
      </p:pic>
      <p:pic>
        <p:nvPicPr>
          <p:cNvPr id="24" name="Picture 23" descr="trading_pho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4394" y="4919471"/>
            <a:ext cx="1555677" cy="8321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009191"/>
                </a:solidFill>
                <a:latin typeface="Aptos"/>
              </a:defRPr>
            </a:pPr>
            <a:r>
              <a:t>03  •  THREE INTERVENTION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B365D"/>
                </a:solidFill>
                <a:latin typeface="Aptos"/>
              </a:defRPr>
            </a:pPr>
            <a:r>
              <a:t>Humans can help at three different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98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5B6B7B"/>
                </a:solidFill>
                <a:latin typeface="Aptos"/>
              </a:defRPr>
            </a:pPr>
            <a:r>
              <a:t>Each stage solves a different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520440" cy="3063240"/>
          </a:xfrm>
          <a:prstGeom prst="roundRect">
            <a:avLst/>
          </a:prstGeom>
          <a:solidFill>
            <a:srgbClr val="F2F7FC"/>
          </a:solidFill>
          <a:ln>
            <a:solidFill>
              <a:srgbClr val="F2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91440" cy="306324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" y="2386584"/>
            <a:ext cx="420624" cy="420624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386584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331720"/>
            <a:ext cx="248716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B365D"/>
                </a:solidFill>
                <a:latin typeface="Aptos"/>
              </a:defRPr>
            </a:pPr>
            <a:r>
              <a:t>1.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07792"/>
            <a:ext cx="2990088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Humans label examples so the model can learn.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Example: mark emails as spam or not spam.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48840"/>
            <a:ext cx="3520440" cy="3063240"/>
          </a:xfrm>
          <a:prstGeom prst="roundRect">
            <a:avLst/>
          </a:prstGeom>
          <a:solidFill>
            <a:srgbClr val="F2F7FC"/>
          </a:solidFill>
          <a:ln>
            <a:solidFill>
              <a:srgbClr val="F2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2148840"/>
            <a:ext cx="91440" cy="3063240"/>
          </a:xfrm>
          <a:prstGeom prst="rect">
            <a:avLst/>
          </a:prstGeom>
          <a:solidFill>
            <a:srgbClr val="4A7DC9"/>
          </a:solidFill>
          <a:ln>
            <a:solidFill>
              <a:srgbClr val="4A7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99432" y="2386584"/>
            <a:ext cx="420624" cy="420624"/>
          </a:xfrm>
          <a:prstGeom prst="ellipse">
            <a:avLst/>
          </a:prstGeom>
          <a:solidFill>
            <a:srgbClr val="4A7DC9"/>
          </a:solidFill>
          <a:ln>
            <a:solidFill>
              <a:srgbClr val="4A7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2" y="2386584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2331720"/>
            <a:ext cx="248716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B365D"/>
                </a:solidFill>
                <a:latin typeface="Aptos"/>
              </a:defRPr>
            </a:pPr>
            <a:r>
              <a:t>2. 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907792"/>
            <a:ext cx="2990088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Humans compare answers and choose which is better.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Example: RLHF improves helpfulness.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148840"/>
            <a:ext cx="3520440" cy="3063240"/>
          </a:xfrm>
          <a:prstGeom prst="roundRect">
            <a:avLst/>
          </a:prstGeom>
          <a:solidFill>
            <a:srgbClr val="F2F7FC"/>
          </a:solidFill>
          <a:ln>
            <a:solidFill>
              <a:srgbClr val="F2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79" y="2148840"/>
            <a:ext cx="91440" cy="3063240"/>
          </a:xfrm>
          <a:prstGeom prst="rect">
            <a:avLst/>
          </a:prstGeom>
          <a:solidFill>
            <a:srgbClr val="EA705D"/>
          </a:solidFill>
          <a:ln>
            <a:solidFill>
              <a:srgbClr val="EA7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11311" y="2386584"/>
            <a:ext cx="420624" cy="420624"/>
          </a:xfrm>
          <a:prstGeom prst="ellipse">
            <a:avLst/>
          </a:prstGeom>
          <a:solidFill>
            <a:srgbClr val="EA705D"/>
          </a:solidFill>
          <a:ln>
            <a:solidFill>
              <a:srgbClr val="EA7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1311" y="2386584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2331720"/>
            <a:ext cx="2487167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B365D"/>
                </a:solidFill>
                <a:latin typeface="Aptos"/>
              </a:defRPr>
            </a:pPr>
            <a:r>
              <a:t>3. INFERENCE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907792"/>
            <a:ext cx="2990088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Humans review or approve actions while AI is in use.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Example: approve an AI agent's file change.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7784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B365D"/>
                </a:solidFill>
                <a:latin typeface="Aptos"/>
              </a:defRPr>
            </a:pPr>
            <a:r>
              <a:t>Training = knowledge     •     Tuning = judgment     •     Inference = guardrails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5B6B7B"/>
                </a:solidFill>
                <a:latin typeface="Aptos"/>
              </a:defRPr>
            </a:pPr>
            <a:r>
              <a:t>HUMAN-IN-THE-LOOP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649224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B6B7B"/>
                </a:solidFill>
                <a:latin typeface="Aptos"/>
              </a:defRPr>
            </a:pPr>
            <a:r>
              <a:t>04  /  06</a:t>
            </a:r>
          </a:p>
        </p:txBody>
      </p:sp>
      <p:pic>
        <p:nvPicPr>
          <p:cNvPr id="26" name="Picture 25" descr="training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709160"/>
            <a:ext cx="914400" cy="566928"/>
          </a:xfrm>
          <a:prstGeom prst="rect">
            <a:avLst/>
          </a:prstGeom>
        </p:spPr>
      </p:pic>
      <p:pic>
        <p:nvPicPr>
          <p:cNvPr id="27" name="Picture 26" descr="tuning_ph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709160"/>
            <a:ext cx="914400" cy="566928"/>
          </a:xfrm>
          <a:prstGeom prst="rect">
            <a:avLst/>
          </a:prstGeom>
        </p:spPr>
      </p:pic>
      <p:pic>
        <p:nvPicPr>
          <p:cNvPr id="28" name="Picture 27" descr="inference_pho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4709160"/>
            <a:ext cx="914400" cy="56692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594360" y="1783080"/>
            <a:ext cx="10972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9191"/>
                </a:solidFill>
                <a:latin typeface="Aptos"/>
              </a:defRPr>
            </a:pPr>
            <a:r>
              <a:t>HUMANS HELP AI AT THREE STAGES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2331720"/>
            <a:ext cx="3337560" cy="2468880"/>
          </a:xfrm>
          <a:prstGeom prst="roundRect">
            <a:avLst/>
          </a:prstGeom>
          <a:solidFill>
            <a:srgbClr val="F2F7FC"/>
          </a:solidFill>
          <a:ln>
            <a:solidFill>
              <a:srgbClr val="F2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77240" y="2331720"/>
            <a:ext cx="82296" cy="2468880"/>
          </a:xfrm>
          <a:prstGeom prst="round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" y="2468879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B365D"/>
                </a:solidFill>
                <a:latin typeface="Aptos"/>
              </a:defRPr>
            </a:pPr>
            <a:r>
              <a:t>1. TRAINING = TEACH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2971800"/>
            <a:ext cx="2990088" cy="1719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Humans label examples (e.g., spam / not spam).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endParaRPr/>
          </a:p>
          <a:p>
            <a:pPr algn="l">
              <a:spcAft>
                <a:spcPts val="4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Active learning: AI asks humans to label the examples it is least sure about.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840" y="2331720"/>
            <a:ext cx="3337560" cy="2468880"/>
          </a:xfrm>
          <a:prstGeom prst="roundRect">
            <a:avLst/>
          </a:prstGeom>
          <a:solidFill>
            <a:srgbClr val="F2F7FC"/>
          </a:solidFill>
          <a:ln>
            <a:solidFill>
              <a:srgbClr val="F2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434840" y="2331720"/>
            <a:ext cx="82296" cy="2468880"/>
          </a:xfrm>
          <a:prstGeom prst="roundRect">
            <a:avLst/>
          </a:prstGeom>
          <a:solidFill>
            <a:srgbClr val="4A7DC9"/>
          </a:solidFill>
          <a:ln>
            <a:solidFill>
              <a:srgbClr val="4A7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17720" y="2468879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B365D"/>
                </a:solidFill>
                <a:latin typeface="Aptos"/>
              </a:defRPr>
            </a:pPr>
            <a:r>
              <a:t>2. TUNING = IMPROVE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2971800"/>
            <a:ext cx="2990088" cy="1719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RLHF: AI gives two answers; humans choose the better one.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endParaRPr/>
          </a:p>
          <a:p>
            <a:pPr algn="l">
              <a:spcAft>
                <a:spcPts val="4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A reward model learns those preferences and helps improve the original model.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2331720"/>
            <a:ext cx="3154680" cy="2468880"/>
          </a:xfrm>
          <a:prstGeom prst="roundRect">
            <a:avLst/>
          </a:prstGeom>
          <a:solidFill>
            <a:srgbClr val="F2F7FC"/>
          </a:solidFill>
          <a:ln>
            <a:solidFill>
              <a:srgbClr val="F2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092440" y="2331720"/>
            <a:ext cx="82296" cy="2468880"/>
          </a:xfrm>
          <a:prstGeom prst="roundRect">
            <a:avLst/>
          </a:prstGeom>
          <a:solidFill>
            <a:srgbClr val="EA705D"/>
          </a:solidFill>
          <a:ln>
            <a:solidFill>
              <a:srgbClr val="EA7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75319" y="2468879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B365D"/>
                </a:solidFill>
                <a:latin typeface="Aptos"/>
              </a:defRPr>
            </a:pPr>
            <a:r>
              <a:t>3. INFERENCE = USE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19" y="2971800"/>
            <a:ext cx="2807208" cy="1719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AI is working in the real world.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endParaRPr/>
          </a:p>
          <a:p>
            <a:pPr algn="l">
              <a:spcAft>
                <a:spcPts val="400"/>
              </a:spcAft>
              <a:defRPr sz="1300" b="0">
                <a:solidFill>
                  <a:srgbClr val="283442"/>
                </a:solidFill>
                <a:latin typeface="Aptos"/>
              </a:defRPr>
            </a:pPr>
            <a:r>
              <a:t>Humans can review uncertain cases, approve important actions, or handle unusual problems.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166360"/>
            <a:ext cx="10607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009191"/>
                </a:solidFill>
                <a:latin typeface="Aptos"/>
              </a:defRPr>
            </a:pPr>
            <a:r>
              <a:t>TRAINING = KNOWLEDGE     •     TUNING = PREFERENCES     •     INFERENCE = GUARDRAILS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009191"/>
                </a:solidFill>
                <a:latin typeface="Aptos"/>
              </a:defRPr>
            </a:pPr>
            <a:r>
              <a:t>04  •  PUTTING IT INTO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B365D"/>
                </a:solidFill>
                <a:latin typeface="Aptos"/>
              </a:defRPr>
            </a:pPr>
            <a:r>
              <a:t>Three simple guardrails for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98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5B6B7B"/>
                </a:solidFill>
                <a:latin typeface="Aptos"/>
              </a:defRPr>
            </a:pPr>
            <a:r>
              <a:t>Especially useful when AI can take real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48840"/>
            <a:ext cx="3246120" cy="3337560"/>
          </a:xfrm>
          <a:prstGeom prst="roundRect">
            <a:avLst/>
          </a:prstGeom>
          <a:solidFill>
            <a:srgbClr val="F2F7FC"/>
          </a:solidFill>
          <a:ln>
            <a:solidFill>
              <a:srgbClr val="F2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029967" y="2487168"/>
            <a:ext cx="1005840" cy="1005840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 flipV="1">
            <a:off x="2267712" y="2788920"/>
            <a:ext cx="457200" cy="301752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450591" y="2953512"/>
            <a:ext cx="137160" cy="1371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B365D"/>
                </a:solidFill>
                <a:latin typeface="Aptos"/>
              </a:defRPr>
            </a:pPr>
            <a:r>
              <a:t>Confidence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187952"/>
            <a:ext cx="2697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If AI is unsure, send the case to a human.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956048"/>
            <a:ext cx="2697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009191"/>
                </a:solidFill>
                <a:latin typeface="Aptos"/>
              </a:defRPr>
            </a:pPr>
            <a:r>
              <a:t>A human reviews uncertain cases.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148840"/>
            <a:ext cx="3246120" cy="3337560"/>
          </a:xfrm>
          <a:prstGeom prst="roundRect">
            <a:avLst/>
          </a:prstGeom>
          <a:solidFill>
            <a:srgbClr val="F2F7FC"/>
          </a:solidFill>
          <a:ln>
            <a:solidFill>
              <a:srgbClr val="F2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550407" y="2487168"/>
            <a:ext cx="1005840" cy="1005840"/>
          </a:xfrm>
          <a:prstGeom prst="ellipse">
            <a:avLst/>
          </a:prstGeom>
          <a:solidFill>
            <a:srgbClr val="4A7DC9"/>
          </a:solidFill>
          <a:ln>
            <a:solidFill>
              <a:srgbClr val="4A7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5779007" y="2999232"/>
            <a:ext cx="192024" cy="18288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971031" y="2761488"/>
            <a:ext cx="347473" cy="420624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63440" y="3657600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B365D"/>
                </a:solidFill>
                <a:latin typeface="Aptos"/>
              </a:defRPr>
            </a:pPr>
            <a:r>
              <a:t>Approval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4187952"/>
            <a:ext cx="2697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Ask permission before a high-impact 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4956048"/>
            <a:ext cx="2697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4A7DC9"/>
                </a:solidFill>
                <a:latin typeface="Aptos"/>
              </a:defRPr>
            </a:pPr>
            <a:r>
              <a:t>A human approves before files change.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148840"/>
            <a:ext cx="3246120" cy="3337560"/>
          </a:xfrm>
          <a:prstGeom prst="roundRect">
            <a:avLst/>
          </a:prstGeom>
          <a:solidFill>
            <a:srgbClr val="F2F7FC"/>
          </a:solidFill>
          <a:ln>
            <a:solidFill>
              <a:srgbClr val="F2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070848" y="2487168"/>
            <a:ext cx="1005840" cy="1005840"/>
          </a:xfrm>
          <a:prstGeom prst="ellipse">
            <a:avLst/>
          </a:prstGeom>
          <a:solidFill>
            <a:srgbClr val="EA705D"/>
          </a:solidFill>
          <a:ln>
            <a:solidFill>
              <a:srgbClr val="EA7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08592" y="2578608"/>
            <a:ext cx="53035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657600"/>
            <a:ext cx="2788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B365D"/>
                </a:solidFill>
                <a:latin typeface="Aptos"/>
              </a:defRPr>
            </a:pPr>
            <a:r>
              <a:t>Escalation 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187952"/>
            <a:ext cx="2697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Handle routine work; flag unusual cases.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956048"/>
            <a:ext cx="2697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EA705D"/>
                </a:solidFill>
                <a:latin typeface="Aptos"/>
              </a:defRPr>
            </a:pPr>
            <a:r>
              <a:t>A human handles edge cases.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09191"/>
                </a:solidFill>
                <a:latin typeface="Aptos"/>
              </a:defRPr>
            </a:pPr>
            <a:r>
              <a:t>Principle: automate the routine; escalate uncertainty and risk.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5B6B7B"/>
                </a:solidFill>
                <a:latin typeface="Aptos"/>
              </a:defRPr>
            </a:pPr>
            <a:r>
              <a:t>HUMAN-IN-THE-LOOP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52760" y="649224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B6B7B"/>
                </a:solidFill>
                <a:latin typeface="Aptos"/>
              </a:defRPr>
            </a:pPr>
            <a:r>
              <a:t>05  /  06</a:t>
            </a:r>
          </a:p>
        </p:txBody>
      </p:sp>
      <p:pic>
        <p:nvPicPr>
          <p:cNvPr id="28" name="Picture 27" descr="benefits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955" y="2688336"/>
            <a:ext cx="1010412" cy="621792"/>
          </a:xfrm>
          <a:prstGeom prst="rect">
            <a:avLst/>
          </a:prstGeom>
        </p:spPr>
      </p:pic>
      <p:pic>
        <p:nvPicPr>
          <p:cNvPr id="29" name="Picture 28" descr="tuning_ph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2747772"/>
            <a:ext cx="1069848" cy="658368"/>
          </a:xfrm>
          <a:prstGeom prst="rect">
            <a:avLst/>
          </a:prstGeom>
        </p:spPr>
      </p:pic>
      <p:pic>
        <p:nvPicPr>
          <p:cNvPr id="30" name="Picture 29" descr="challenges_pho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6692" y="2688336"/>
            <a:ext cx="1084707" cy="6675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 dir="ou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009191"/>
                </a:solidFill>
                <a:latin typeface="Aptos"/>
              </a:defRPr>
            </a:pPr>
            <a:r>
              <a:t>05  • 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B365D"/>
                </a:solidFill>
                <a:latin typeface="Aptos"/>
              </a:defRPr>
            </a:pPr>
            <a:r>
              <a:t>The goal isn't maximum autonomy — it's appropriate autonomy.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98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5B6B7B"/>
                </a:solidFill>
                <a:latin typeface="Aptos"/>
              </a:defRPr>
            </a:pPr>
            <a:r>
              <a:t>Human oversight brings safety, but it also has costs.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502920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F2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057400"/>
            <a:ext cx="91440" cy="1508760"/>
          </a:xfrm>
          <a:prstGeom prst="rect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78992" y="2295144"/>
            <a:ext cx="420624" cy="420624"/>
          </a:xfrm>
          <a:prstGeom prst="ellipse">
            <a:avLst/>
          </a:prstGeom>
          <a:solidFill>
            <a:srgbClr val="009191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2295144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240280"/>
            <a:ext cx="399592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B365D"/>
                </a:solidFill>
                <a:latin typeface="Aptos"/>
              </a:defRPr>
            </a:pPr>
            <a:r>
              <a:t>What we gain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16352"/>
            <a:ext cx="44988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Safer decisions, feedback, and a way to catch mistakes.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057400"/>
            <a:ext cx="502920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F2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2057400"/>
            <a:ext cx="91440" cy="1508760"/>
          </a:xfrm>
          <a:prstGeom prst="rect">
            <a:avLst/>
          </a:prstGeom>
          <a:solidFill>
            <a:srgbClr val="EA705D"/>
          </a:solidFill>
          <a:ln>
            <a:solidFill>
              <a:srgbClr val="EA7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65392" y="2295144"/>
            <a:ext cx="420624" cy="420624"/>
          </a:xfrm>
          <a:prstGeom prst="ellipse">
            <a:avLst/>
          </a:prstGeom>
          <a:solidFill>
            <a:srgbClr val="EA705D"/>
          </a:solidFill>
          <a:ln>
            <a:solidFill>
              <a:srgbClr val="EA7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2295144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2240280"/>
            <a:ext cx="399592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B365D"/>
                </a:solidFill>
                <a:latin typeface="Aptos"/>
              </a:defRPr>
            </a:pPr>
            <a:r>
              <a:t>What it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16352"/>
            <a:ext cx="44988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Human review can slow things down; people may disagree or get tired.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60520"/>
            <a:ext cx="10332720" cy="1143000"/>
          </a:xfrm>
          <a:prstGeom prst="roundRect">
            <a:avLst/>
          </a:prstGeom>
          <a:solidFill>
            <a:srgbClr val="DCF6F1"/>
          </a:solidFill>
          <a:ln>
            <a:solidFill>
              <a:srgbClr val="DC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4370832"/>
            <a:ext cx="9692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1B365D"/>
                </a:solidFill>
                <a:latin typeface="Aptos"/>
              </a:defRPr>
            </a:pPr>
            <a:r>
              <a:t>“Trust AI with the task — not automatically with the final decision.”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009191"/>
                </a:solidFill>
                <a:latin typeface="Aptos"/>
              </a:defRPr>
            </a:pPr>
            <a:r>
              <a:t>Thank you  •  Questions?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5B6B7B"/>
                </a:solidFill>
                <a:latin typeface="Aptos"/>
              </a:defRPr>
            </a:pPr>
            <a:r>
              <a:t>HUMAN-IN-THE-LOOP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92240"/>
            <a:ext cx="914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B6B7B"/>
                </a:solidFill>
                <a:latin typeface="Aptos"/>
              </a:defRPr>
            </a:pPr>
            <a:r>
              <a:t>06  /  06</a:t>
            </a:r>
          </a:p>
        </p:txBody>
      </p:sp>
      <p:pic>
        <p:nvPicPr>
          <p:cNvPr id="22" name="Picture 21" descr="conclusion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3840480"/>
            <a:ext cx="2926080" cy="15087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40080" y="1691640"/>
            <a:ext cx="10972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1783080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9191"/>
                </a:solidFill>
                <a:latin typeface="Aptos"/>
              </a:defRPr>
            </a:pPr>
            <a:r>
              <a:t>THE TRADE-OFF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2240280"/>
            <a:ext cx="4937760" cy="1417320"/>
          </a:xfrm>
          <a:prstGeom prst="roundRect">
            <a:avLst/>
          </a:prstGeom>
          <a:solidFill>
            <a:srgbClr val="F2F7FC"/>
          </a:solidFill>
          <a:ln>
            <a:solidFill>
              <a:srgbClr val="F2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2331720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B365D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2697480"/>
            <a:ext cx="4389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Catches mistakes • Adds human judgment • Provides safety checks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240280"/>
            <a:ext cx="4937760" cy="1417320"/>
          </a:xfrm>
          <a:prstGeom prst="roundRect">
            <a:avLst/>
          </a:prstGeom>
          <a:solidFill>
            <a:srgbClr val="F2F7FC"/>
          </a:solidFill>
          <a:ln>
            <a:solidFill>
              <a:srgbClr val="F2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2331720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B365D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697480"/>
            <a:ext cx="4389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83442"/>
                </a:solidFill>
                <a:latin typeface="Aptos"/>
              </a:defRPr>
            </a:pPr>
            <a:r>
              <a:t>Can slow things down • People may disagree • Fatigue and bias can affect decisions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3977639"/>
            <a:ext cx="10287000" cy="1143000"/>
          </a:xfrm>
          <a:prstGeom prst="roundRect">
            <a:avLst/>
          </a:prstGeom>
          <a:solidFill>
            <a:srgbClr val="DCF6F1"/>
          </a:solidFill>
          <a:ln>
            <a:solidFill>
              <a:srgbClr val="DC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88720" y="4160520"/>
            <a:ext cx="9784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900" b="1">
                <a:solidFill>
                  <a:srgbClr val="1B365D"/>
                </a:solidFill>
                <a:latin typeface="Aptos"/>
              </a:defRPr>
            </a:pPr>
            <a:r>
              <a:t>THE GOAL: Use enough human oversight for the risk — then increase autonomy only as trust is earned.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440680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009191"/>
                </a:solidFill>
                <a:latin typeface="Aptos"/>
              </a:defRPr>
            </a:pPr>
            <a:r>
              <a:t>Takeaway: humans provide knowledge, preferences, and guardrails.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4370"/>
                </a:solidFill>
                <a:latin typeface="Aptos Display"/>
              </a:defRPr>
            </a:pPr>
            <a:r>
              <a:t>Where Do We See It in Real Life?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778F"/>
                </a:solidFill>
                <a:latin typeface="Aptos"/>
              </a:defRPr>
            </a:pPr>
            <a:r>
              <a:t>Human review is especially useful when mistakes could have serious consequences.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520440" cy="1828800"/>
          </a:xfrm>
          <a:prstGeom prst="roundRect">
            <a:avLst/>
          </a:prstGeom>
          <a:solidFill>
            <a:srgbClr val="EFF8FC"/>
          </a:solidFill>
          <a:ln w="12700">
            <a:solidFill>
              <a:srgbClr val="CD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755648"/>
            <a:ext cx="73152" cy="1609344"/>
          </a:xfrm>
          <a:prstGeom prst="rect">
            <a:avLst/>
          </a:prstGeom>
          <a:solidFill>
            <a:srgbClr val="259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3108960" cy="153619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4370"/>
                </a:solidFill>
                <a:latin typeface="Aptos"/>
              </a:defRPr>
            </a:pPr>
            <a:r>
              <a:t>Healthcare</a:t>
            </a:r>
          </a:p>
          <a:p>
            <a:pPr>
              <a:spcAft>
                <a:spcPts val="0"/>
              </a:spcAft>
              <a:defRPr sz="1400">
                <a:solidFill>
                  <a:srgbClr val="27394A"/>
                </a:solidFill>
                <a:latin typeface="Aptos"/>
              </a:defRPr>
            </a:pPr>
            <a:r>
              <a:t>AI highlights a possible problem in an X-ray. A doctor checks the image before making a diagnosis.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520440" cy="1828800"/>
          </a:xfrm>
          <a:prstGeom prst="roundRect">
            <a:avLst/>
          </a:prstGeom>
          <a:solidFill>
            <a:srgbClr val="EFF8FC"/>
          </a:solidFill>
          <a:ln w="12700">
            <a:solidFill>
              <a:srgbClr val="CD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1755648"/>
            <a:ext cx="73152" cy="1609344"/>
          </a:xfrm>
          <a:prstGeom prst="rect">
            <a:avLst/>
          </a:prstGeom>
          <a:solidFill>
            <a:srgbClr val="4B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3108960" cy="153619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4370"/>
                </a:solidFill>
                <a:latin typeface="Aptos"/>
              </a:defRPr>
            </a:pPr>
            <a:r>
              <a:t>Online safety</a:t>
            </a:r>
          </a:p>
          <a:p>
            <a:pPr>
              <a:spcAft>
                <a:spcPts val="0"/>
              </a:spcAft>
              <a:defRPr sz="1400">
                <a:solidFill>
                  <a:srgbClr val="27394A"/>
                </a:solidFill>
                <a:latin typeface="Aptos"/>
              </a:defRPr>
            </a:pPr>
            <a:r>
              <a:t>AI flags a suspicious post or message. A human reviewer checks unclear or sensitive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520440" cy="1828800"/>
          </a:xfrm>
          <a:prstGeom prst="roundRect">
            <a:avLst/>
          </a:prstGeom>
          <a:solidFill>
            <a:srgbClr val="EFF8FC"/>
          </a:solidFill>
          <a:ln w="12700">
            <a:solidFill>
              <a:srgbClr val="CD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755648"/>
            <a:ext cx="73152" cy="1609344"/>
          </a:xfrm>
          <a:prstGeom prst="rect">
            <a:avLst/>
          </a:prstGeom>
          <a:solidFill>
            <a:srgbClr val="5BA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810512"/>
            <a:ext cx="3108960" cy="153619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4370"/>
                </a:solidFill>
                <a:latin typeface="Aptos"/>
              </a:defRPr>
            </a:pPr>
            <a:r>
              <a:t>Customer support</a:t>
            </a:r>
          </a:p>
          <a:p>
            <a:pPr>
              <a:spcAft>
                <a:spcPts val="0"/>
              </a:spcAft>
              <a:defRPr sz="1400">
                <a:solidFill>
                  <a:srgbClr val="27394A"/>
                </a:solidFill>
                <a:latin typeface="Aptos"/>
              </a:defRPr>
            </a:pPr>
            <a:r>
              <a:t>AI drafts an answer. A person steps in when the question is unusual or the customer needs extra help.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599497"/>
            <a:ext cx="10104120" cy="1051560"/>
          </a:xfrm>
          <a:prstGeom prst="roundRect">
            <a:avLst/>
          </a:prstGeom>
          <a:solidFill>
            <a:srgbClr val="E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0048" y="5897880"/>
            <a:ext cx="974138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84370"/>
                </a:solidFill>
                <a:latin typeface="Aptos"/>
              </a:defRPr>
            </a:pPr>
            <a:r>
              <a:rPr dirty="0"/>
              <a:t>Simple rule: let AI help with speed and let people handle important judgment.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130522-FDA2-40D1-01F4-8CFB74F2E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952" y="3639312"/>
            <a:ext cx="1700756" cy="173954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101AB7A-E759-C92C-78BA-E74469C53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253" y="3695360"/>
            <a:ext cx="2560320" cy="16554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6DFCE47-AA2C-6BDD-DAB6-E7EB1009A4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0010" y="3790076"/>
            <a:ext cx="2408492" cy="16093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4370"/>
                </a:solidFill>
                <a:latin typeface="Aptos Display"/>
              </a:defRPr>
            </a:pPr>
            <a:r>
              <a:t>How Much Human Oversight Is Needed?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778F"/>
                </a:solidFill>
                <a:latin typeface="Aptos"/>
              </a:defRPr>
            </a:pPr>
            <a:r>
              <a:t>The higher the risk, the more carefully people should check the AI.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2148840"/>
          </a:xfrm>
          <a:prstGeom prst="roundRect">
            <a:avLst/>
          </a:prstGeom>
          <a:solidFill>
            <a:srgbClr val="EFF8FC"/>
          </a:solidFill>
          <a:ln w="12700">
            <a:solidFill>
              <a:srgbClr val="CD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64207"/>
            <a:ext cx="73152" cy="1929384"/>
          </a:xfrm>
          <a:prstGeom prst="rect">
            <a:avLst/>
          </a:prstGeom>
          <a:solidFill>
            <a:srgbClr val="5BA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19072"/>
            <a:ext cx="3017520" cy="185623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4370"/>
                </a:solidFill>
                <a:latin typeface="Aptos"/>
              </a:defRPr>
            </a:pPr>
            <a:r>
              <a:t>LOW RISK</a:t>
            </a:r>
          </a:p>
          <a:p>
            <a:pPr>
              <a:spcAft>
                <a:spcPts val="0"/>
              </a:spcAft>
              <a:defRPr sz="1400">
                <a:solidFill>
                  <a:srgbClr val="27394A"/>
                </a:solidFill>
                <a:latin typeface="Aptos"/>
              </a:defRPr>
            </a:pPr>
            <a:r>
              <a:t>Example: suggesting a playlist</a:t>
            </a:r>
            <a:br/>
            <a:br/>
            <a:r>
              <a:t>AI can usually act on its own, with light monitoring.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29000" cy="2148840"/>
          </a:xfrm>
          <a:prstGeom prst="roundRect">
            <a:avLst/>
          </a:prstGeom>
          <a:solidFill>
            <a:srgbClr val="EFF8FC"/>
          </a:solidFill>
          <a:ln w="12700">
            <a:solidFill>
              <a:srgbClr val="CD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664207"/>
            <a:ext cx="73152" cy="1929384"/>
          </a:xfrm>
          <a:prstGeom prst="rect">
            <a:avLst/>
          </a:prstGeom>
          <a:solidFill>
            <a:srgbClr val="4B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719072"/>
            <a:ext cx="3017520" cy="185623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4370"/>
                </a:solidFill>
                <a:latin typeface="Aptos"/>
              </a:defRPr>
            </a:pPr>
            <a:r>
              <a:t>MEDIUM RISK</a:t>
            </a:r>
          </a:p>
          <a:p>
            <a:pPr>
              <a:spcAft>
                <a:spcPts val="0"/>
              </a:spcAft>
              <a:defRPr sz="1400">
                <a:solidFill>
                  <a:srgbClr val="27394A"/>
                </a:solidFill>
                <a:latin typeface="Aptos"/>
              </a:defRPr>
            </a:pPr>
            <a:r>
              <a:t>Example: sorting customer questions</a:t>
            </a:r>
            <a:br/>
            <a:br/>
            <a:r>
              <a:t>AI handles routine cases; people review uncertain 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429000" cy="2148840"/>
          </a:xfrm>
          <a:prstGeom prst="roundRect">
            <a:avLst/>
          </a:prstGeom>
          <a:solidFill>
            <a:srgbClr val="EFF8FC"/>
          </a:solidFill>
          <a:ln w="12700">
            <a:solidFill>
              <a:srgbClr val="CD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664207"/>
            <a:ext cx="73152" cy="1929384"/>
          </a:xfrm>
          <a:prstGeom prst="rect">
            <a:avLst/>
          </a:prstGeom>
          <a:solidFill>
            <a:srgbClr val="E19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719072"/>
            <a:ext cx="3017520" cy="185623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84370"/>
                </a:solidFill>
                <a:latin typeface="Aptos"/>
              </a:defRPr>
            </a:pPr>
            <a:r>
              <a:t>HIGH RISK</a:t>
            </a:r>
          </a:p>
          <a:p>
            <a:pPr>
              <a:spcAft>
                <a:spcPts val="0"/>
              </a:spcAft>
              <a:defRPr sz="1400">
                <a:solidFill>
                  <a:srgbClr val="27394A"/>
                </a:solidFill>
                <a:latin typeface="Aptos"/>
              </a:defRPr>
            </a:pPr>
            <a:r>
              <a:t>Example: medical decisions</a:t>
            </a:r>
            <a:br/>
            <a:br/>
            <a:r>
              <a:t>A qualified person should review the AI's recommendation.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234" y="4736593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84370"/>
                </a:solidFill>
                <a:latin typeface="Aptos Display"/>
              </a:defRPr>
            </a:pPr>
            <a:r>
              <a:rPr dirty="0"/>
              <a:t>Human-in-the-Loop AI is not about replacing people — it is about combining AI's speed with human judgment.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850</Words>
  <Application>Microsoft Office PowerPoint</Application>
  <PresentationFormat>Widescreen</PresentationFormat>
  <Paragraphs>132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Sriya Maroju</cp:lastModifiedBy>
  <cp:revision>5</cp:revision>
  <dcterms:created xsi:type="dcterms:W3CDTF">2013-01-27T09:14:16Z</dcterms:created>
  <dcterms:modified xsi:type="dcterms:W3CDTF">2026-10-23T01:07:57Z</dcterms:modified>
  <cp:category/>
</cp:coreProperties>
</file>